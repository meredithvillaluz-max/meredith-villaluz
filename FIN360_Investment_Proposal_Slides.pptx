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7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8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B4A"/>
                </a:solidFill>
                <a:latin typeface="Arial"/>
              </a:rPr>
              <a:t>Net Revenue ($M) — FY2025 to FY2031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FY2025</c:v>
                </c:pt>
                <c:pt idx="1">
                  <c:v>FY2026</c:v>
                </c:pt>
                <c:pt idx="2">
                  <c:v>FY2027</c:v>
                </c:pt>
                <c:pt idx="3">
                  <c:v>FY2028</c:v>
                </c:pt>
                <c:pt idx="4">
                  <c:v>FY2029</c:v>
                </c:pt>
                <c:pt idx="5">
                  <c:v>FY2030</c:v>
                </c:pt>
                <c:pt idx="6">
                  <c:v>FY2031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5354</c:v>
                </c:pt>
                <c:pt idx="1">
                  <c:v>5489</c:v>
                </c:pt>
                <c:pt idx="2">
                  <c:v>5661</c:v>
                </c:pt>
                <c:pt idx="3">
                  <c:v>5848</c:v>
                </c:pt>
                <c:pt idx="4">
                  <c:v>6038</c:v>
                </c:pt>
                <c:pt idx="5">
                  <c:v>6219</c:v>
                </c:pt>
                <c:pt idx="6">
                  <c:v>6421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2C-774C-8214-A36C8A5D31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US" sz="1050" b="0" i="0" u="none" strike="noStrike">
                <a:solidFill>
                  <a:srgbClr val="1A2B4A"/>
                </a:solidFill>
                <a:latin typeface="Arial"/>
              </a:rPr>
              <a:t>Implied Price by Valuation Method (vs. Current $16.70)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 (Sector Med.)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DCF</c:v>
                </c:pt>
                <c:pt idx="1">
                  <c:v>EV/EBITDA</c:v>
                </c:pt>
                <c:pt idx="2">
                  <c:v>EV/EBIT</c:v>
                </c:pt>
                <c:pt idx="3">
                  <c:v>P/E</c:v>
                </c:pt>
                <c:pt idx="4">
                  <c:v>PEG</c:v>
                </c:pt>
                <c:pt idx="5">
                  <c:v>Weighted Avg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18.309999999999999</c:v>
                </c:pt>
                <c:pt idx="1">
                  <c:v>39.85</c:v>
                </c:pt>
                <c:pt idx="2">
                  <c:v>36.99</c:v>
                </c:pt>
                <c:pt idx="3">
                  <c:v>17.579999999999998</c:v>
                </c:pt>
                <c:pt idx="4">
                  <c:v>41.31</c:v>
                </c:pt>
                <c:pt idx="5">
                  <c:v>27.79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F0-D640-B153-CF92EEA2F2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Target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DCF</c:v>
                </c:pt>
                <c:pt idx="1">
                  <c:v>EV/EBITDA</c:v>
                </c:pt>
                <c:pt idx="2">
                  <c:v>EV/EBIT</c:v>
                </c:pt>
                <c:pt idx="3">
                  <c:v>P/E</c:v>
                </c:pt>
                <c:pt idx="4">
                  <c:v>PEG</c:v>
                </c:pt>
                <c:pt idx="5">
                  <c:v>Weighted Avg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20.86</c:v>
                </c:pt>
                <c:pt idx="1">
                  <c:v>40.229999999999997</c:v>
                </c:pt>
                <c:pt idx="2">
                  <c:v>44.12</c:v>
                </c:pt>
                <c:pt idx="3">
                  <c:v>36.130000000000003</c:v>
                </c:pt>
                <c:pt idx="4">
                  <c:v>86.92</c:v>
                </c:pt>
                <c:pt idx="5">
                  <c:v>35.11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F0-D640-B153-CF92EEA2F2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97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915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278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770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9530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1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525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97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025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9861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6689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807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27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728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igh-angle view of high rise buildings photo – Free Background Image on  Unsplash">
            <a:extLst>
              <a:ext uri="{FF2B5EF4-FFF2-40B4-BE49-F238E27FC236}">
                <a16:creationId xmlns:a16="http://schemas.microsoft.com/office/drawing/2014/main" id="{BD497A94-FA9B-CB3D-38E5-81C9EA57E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156" y="-933157"/>
            <a:ext cx="9520311" cy="634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4A97710-7307-F220-7588-5B75C00E234B}"/>
              </a:ext>
            </a:extLst>
          </p:cNvPr>
          <p:cNvSpPr/>
          <p:nvPr/>
        </p:nvSpPr>
        <p:spPr>
          <a:xfrm>
            <a:off x="-368301" y="0"/>
            <a:ext cx="9880600" cy="5143500"/>
          </a:xfrm>
          <a:prstGeom prst="rect">
            <a:avLst/>
          </a:prstGeom>
          <a:solidFill>
            <a:schemeClr val="bg1">
              <a:alpha val="405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Investment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5200" dirty="0"/>
          </a:p>
        </p:txBody>
      </p:sp>
      <p:sp>
        <p:nvSpPr>
          <p:cNvPr id="2" name="Shape 0"/>
          <p:cNvSpPr/>
          <p:nvPr/>
        </p:nvSpPr>
        <p:spPr>
          <a:xfrm>
            <a:off x="-5080" y="0"/>
            <a:ext cx="508000" cy="514350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4360" y="457200"/>
            <a:ext cx="2011680" cy="45720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NYSE: AEO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261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American Eagle Outfitters, Inc.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127248"/>
            <a:ext cx="5943600" cy="4572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3364992"/>
            <a:ext cx="13716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▲  BUY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33649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12-Mo Target: $35.11  |  Upside: +110.2%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Mary Falatau  ·  Tijane Paug  ·  Meredith Villaluz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FIN360 – Corporate Financial Statement Analysis  |  BYU–Hawaii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High-angle view of high rise buildings photo – Free Background Image on  Unsplash">
            <a:extLst>
              <a:ext uri="{FF2B5EF4-FFF2-40B4-BE49-F238E27FC236}">
                <a16:creationId xmlns:a16="http://schemas.microsoft.com/office/drawing/2014/main" id="{E77CF2C6-759D-1DEB-8A3A-1D59829BC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7200" y="-304800"/>
            <a:ext cx="10058400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1D1DE22-BE18-2570-BC92-2CC6B57D03F7}"/>
              </a:ext>
            </a:extLst>
          </p:cNvPr>
          <p:cNvSpPr/>
          <p:nvPr/>
        </p:nvSpPr>
        <p:spPr>
          <a:xfrm>
            <a:off x="-279400" y="0"/>
            <a:ext cx="9880600" cy="5143500"/>
          </a:xfrm>
          <a:prstGeom prst="rect">
            <a:avLst/>
          </a:prstGeom>
          <a:solidFill>
            <a:schemeClr val="tx2">
              <a:lumMod val="75000"/>
              <a:alpha val="405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/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AEO? Why Now?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Potential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Price Target $35.11 vs. Current $16.70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64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143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14–41%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Discount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trades below sector median on every metric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51760" cy="64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143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Debt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72200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balance sheet in specialty retail peer group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8412480" cy="1325880"/>
          </a:xfrm>
          <a:prstGeom prst="rect">
            <a:avLst/>
          </a:prstGeom>
          <a:solidFill>
            <a:srgbClr val="00206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is a fundamentally strong business trading at a significant market discount</a:t>
            </a:r>
            <a:r>
              <a:rPr lang="en-US" sz="1250" b="1" dirty="0">
                <a:solidFill>
                  <a:srgbClr val="E8B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long-term debt, double-digit digital growth, and two high-momentum brands — American Eagle and Aerie — the company is positioned to grow revenue from $5.33B to $6.53B by FY2031. Our five-method weighted valuation, confirmed by the analyst consensus of $35.00, supports a compelling </a:t>
            </a:r>
            <a:r>
              <a:rPr lang="en-US" sz="12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current levels.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866AC-540C-560C-F904-8A67145F260F}"/>
              </a:ext>
            </a:extLst>
          </p:cNvPr>
          <p:cNvGrpSpPr/>
          <p:nvPr/>
        </p:nvGrpSpPr>
        <p:grpSpPr>
          <a:xfrm>
            <a:off x="-368301" y="-832221"/>
            <a:ext cx="9880600" cy="6247755"/>
            <a:chOff x="-368301" y="-832221"/>
            <a:chExt cx="9880600" cy="6247755"/>
          </a:xfrm>
        </p:grpSpPr>
        <p:pic>
          <p:nvPicPr>
            <p:cNvPr id="28" name="Picture 4" descr="High-angle view of high rise buildings photo – Free Background Image on  Unsplash">
              <a:extLst>
                <a:ext uri="{FF2B5EF4-FFF2-40B4-BE49-F238E27FC236}">
                  <a16:creationId xmlns:a16="http://schemas.microsoft.com/office/drawing/2014/main" id="{D07BA691-2084-8312-DC55-8A144FC5D9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0468" y="-832221"/>
              <a:ext cx="9244935" cy="6163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27F0B18-A841-A946-FE6A-3B89A42DB44B}"/>
                </a:ext>
              </a:extLst>
            </p:cNvPr>
            <p:cNvSpPr/>
            <p:nvPr/>
          </p:nvSpPr>
          <p:spPr>
            <a:xfrm>
              <a:off x="-368301" y="272034"/>
              <a:ext cx="9880600" cy="5143500"/>
            </a:xfrm>
            <a:prstGeom prst="rect">
              <a:avLst/>
            </a:prstGeom>
            <a:solidFill>
              <a:schemeClr val="tx2">
                <a:lumMod val="75000"/>
                <a:alpha val="4059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BUSINESS OVERVIEW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AEO?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148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Company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1977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Pittsburgh, PA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~44,000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worldwide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1,172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company-owned stores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locations in 30+ countries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$5.33B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revenue (FY2024)
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sales growth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4297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64008" cy="2148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Brand Portfolio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27432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4538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Eagle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7099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Denim, casual apparel — teens &amp; young adults (15–25)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975104"/>
            <a:ext cx="27432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1965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22199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Intimates, activewear, swimwear — body positivity (15–35)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487168"/>
            <a:ext cx="27432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2478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Todd Snyder / Unsubscribed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7340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niche brands for diversification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64008" cy="1554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Powering Profitable Growth Strategy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Brand investments: Sydney Sweeney &amp; Travis Kelce ambassador partnerships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1605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 discipline: closing ~35 underperforming stores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7033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Digital-first: BOPIS + double-digit digital revenue growth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41605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Aerie expansion into underserved U.S. markets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B86A4959-A0CD-FC4D-F6FF-8ACDE6789D40}"/>
              </a:ext>
            </a:extLst>
          </p:cNvPr>
          <p:cNvGrpSpPr/>
          <p:nvPr/>
        </p:nvGrpSpPr>
        <p:grpSpPr>
          <a:xfrm>
            <a:off x="-1037492" y="-807720"/>
            <a:ext cx="10613097" cy="6229877"/>
            <a:chOff x="-1037492" y="-807720"/>
            <a:chExt cx="10613097" cy="6229877"/>
          </a:xfrm>
        </p:grpSpPr>
        <p:pic>
          <p:nvPicPr>
            <p:cNvPr id="38" name="Picture 4" descr="High-angle view of high rise buildings photo – Free Background Image on  Unsplash">
              <a:extLst>
                <a:ext uri="{FF2B5EF4-FFF2-40B4-BE49-F238E27FC236}">
                  <a16:creationId xmlns:a16="http://schemas.microsoft.com/office/drawing/2014/main" id="{EE561EBA-848B-ECA5-A288-C3B38EFF0E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807720"/>
              <a:ext cx="9144000" cy="60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C3A32BE-1592-CD12-024F-CFA98FEEB849}"/>
                </a:ext>
              </a:extLst>
            </p:cNvPr>
            <p:cNvSpPr/>
            <p:nvPr/>
          </p:nvSpPr>
          <p:spPr>
            <a:xfrm>
              <a:off x="-1037492" y="-411246"/>
              <a:ext cx="10613097" cy="5833403"/>
            </a:xfrm>
            <a:prstGeom prst="rect">
              <a:avLst/>
            </a:prstGeom>
            <a:solidFill>
              <a:schemeClr val="tx2">
                <a:lumMod val="75000"/>
                <a:alpha val="4059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MARKET &amp; INDUSTRY ANALYSIS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Structural Tailwinds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Acceleration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 → 43%+</a:t>
            </a:r>
            <a:endParaRPr lang="en-US" sz="2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e-commerce penetration (2019→2024)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2377440" cy="18288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560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reported double-digit digital growth in FY2024. Physical stores now serve as BOPIS fulfillment centers, improving unit economics.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Athleisure Market Boom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$306B → $492B</a:t>
            </a:r>
            <a:endParaRPr lang="en-US" sz="2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1012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athleisure market (2021→2027, +61%)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37560" y="2487168"/>
            <a:ext cx="2377440" cy="18288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2560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benefits Aerie's OFFLINE activewear sub-brand. Higher-margin activewear drives gross margin expansion toward 45% by FY2031.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44768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Retail Growth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44768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 p.a.</a:t>
            </a:r>
            <a:endParaRPr lang="en-US" sz="2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4476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specialty apparel market ($350B+)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487168"/>
            <a:ext cx="2377440" cy="18288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2560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AEO's eVal revenue forecast of 2.75–3.30% growth is conservative. Simply growing at market pace meets all projected targets.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069080"/>
            <a:ext cx="9144000" cy="10789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Snapshot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4165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EA8"/>
                </a:solidFill>
              </a:rPr>
              <a:t>New Entrants
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2148840" y="44165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EA8"/>
                </a:solidFill>
              </a:rPr>
              <a:t>Supplier Power
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4884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Low–Mod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40480" y="44165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EA8"/>
                </a:solidFill>
              </a:rPr>
              <a:t>Buyer Power
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44165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EA8"/>
                </a:solidFill>
              </a:rPr>
              <a:t>Substitutes
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Mod–High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44165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EA8"/>
                </a:solidFill>
              </a:rPr>
              <a:t>Industry Rivalry
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2376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4" descr="High-angle view of high rise buildings photo – Free Background Image on  Unsplash">
            <a:extLst>
              <a:ext uri="{FF2B5EF4-FFF2-40B4-BE49-F238E27FC236}">
                <a16:creationId xmlns:a16="http://schemas.microsoft.com/office/drawing/2014/main" id="{63871CE2-2291-4736-7C50-A555142AE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501" y="-564584"/>
            <a:ext cx="9409001" cy="627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5E0E6D3-EFA9-5BDF-B2D1-6BE5F377B0CB}"/>
              </a:ext>
            </a:extLst>
          </p:cNvPr>
          <p:cNvSpPr/>
          <p:nvPr/>
        </p:nvSpPr>
        <p:spPr>
          <a:xfrm>
            <a:off x="-372872" y="81241"/>
            <a:ext cx="9880600" cy="5143500"/>
          </a:xfrm>
          <a:prstGeom prst="rect">
            <a:avLst/>
          </a:prstGeom>
          <a:solidFill>
            <a:schemeClr val="tx2">
              <a:lumMod val="75000"/>
              <a:alpha val="405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FINANCIAL</a:t>
            </a:r>
            <a:r>
              <a:rPr lang="en-US" sz="1300" b="1" kern="0" spc="400" dirty="0">
                <a:solidFill>
                  <a:srgbClr val="C8973A"/>
                </a:solidFill>
              </a:rPr>
              <a:t> </a:t>
            </a:r>
            <a:r>
              <a:rPr lang="en-US" sz="1300" b="1" kern="0" spc="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ANALYSIS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 Outperforms Peers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333756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1033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Returns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194560" cy="22860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ROE: 18.8%  (FY2024) — highest among peers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16712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RNOA: 18.5% — achieved with ZERO leverage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64008" cy="3337560"/>
          </a:xfrm>
          <a:prstGeom prst="rect">
            <a:avLst/>
          </a:prstGeom>
          <a:solidFill>
            <a:srgbClr val="00206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1568" y="1033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01568" y="1417320"/>
            <a:ext cx="2194560" cy="22860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01568" y="1508760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 dropped from 0.24 (FY2021) → ~0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16712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equity-financed operations since FY2023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2531" y="96012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960120"/>
            <a:ext cx="64008" cy="3337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6208" y="1033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1417320"/>
            <a:ext cx="2194560" cy="22860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1508760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NOAT: 2.96x–3.15x  (~$3 revenue per $1 assets)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36208" y="216712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Receivables: 15.8–19.4 days (best-in-class)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⚠ Key Risks to Monitor: 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34640" y="448056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holding period rising (58→72 days)  ·  Tariff impact ~$25–$30M  ·  Gen Z / millennial consumer sensitivity to macro downturns  ·  Competitive pressure from Shein, Zara, ANF</a:t>
            </a:r>
            <a:endParaRPr lang="en-US" sz="1050" dirty="0"/>
          </a:p>
        </p:txBody>
      </p:sp>
      <p:pic>
        <p:nvPicPr>
          <p:cNvPr id="34" name="drawing">
            <a:extLst>
              <a:ext uri="{FF2B5EF4-FFF2-40B4-BE49-F238E27FC236}">
                <a16:creationId xmlns:a16="http://schemas.microsoft.com/office/drawing/2014/main" id="{72202363-EE0C-64BB-DE05-7C3F7C1CF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199" y="2911718"/>
            <a:ext cx="2331441" cy="1148217"/>
          </a:xfrm>
          <a:prstGeom prst="rect">
            <a:avLst/>
          </a:prstGeom>
        </p:spPr>
      </p:pic>
      <p:pic>
        <p:nvPicPr>
          <p:cNvPr id="35" name="drawing">
            <a:extLst>
              <a:ext uri="{FF2B5EF4-FFF2-40B4-BE49-F238E27FC236}">
                <a16:creationId xmlns:a16="http://schemas.microsoft.com/office/drawing/2014/main" id="{2F9BCDD0-796F-FAE0-2959-C386244CB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4557" y="2932000"/>
            <a:ext cx="2423445" cy="1179928"/>
          </a:xfrm>
          <a:prstGeom prst="rect">
            <a:avLst/>
          </a:prstGeom>
        </p:spPr>
      </p:pic>
      <p:pic>
        <p:nvPicPr>
          <p:cNvPr id="36" name="drawing">
            <a:extLst>
              <a:ext uri="{FF2B5EF4-FFF2-40B4-BE49-F238E27FC236}">
                <a16:creationId xmlns:a16="http://schemas.microsoft.com/office/drawing/2014/main" id="{C0F34591-0DA0-3237-D9F2-50A488022A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1945" y="2810636"/>
            <a:ext cx="2214265" cy="1347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High-angle view of high rise buildings photo – Free Background Image on  Unsplash">
            <a:extLst>
              <a:ext uri="{FF2B5EF4-FFF2-40B4-BE49-F238E27FC236}">
                <a16:creationId xmlns:a16="http://schemas.microsoft.com/office/drawing/2014/main" id="{D11CF2B8-A394-F6BD-98D6-A2104BEE1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161" y="-684628"/>
            <a:ext cx="9520311" cy="634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B548445-C67C-573B-D404-381A36479ABE}"/>
              </a:ext>
            </a:extLst>
          </p:cNvPr>
          <p:cNvSpPr/>
          <p:nvPr/>
        </p:nvSpPr>
        <p:spPr>
          <a:xfrm>
            <a:off x="-185420" y="123091"/>
            <a:ext cx="9880600" cy="5355175"/>
          </a:xfrm>
          <a:prstGeom prst="rect">
            <a:avLst/>
          </a:prstGeom>
          <a:solidFill>
            <a:schemeClr val="tx2">
              <a:lumMod val="75000"/>
              <a:alpha val="405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FINANCIAL FORECAST  FY2025–FY2031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Growth Trajectory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329154265"/>
              </p:ext>
            </p:extLst>
          </p:nvPr>
        </p:nvGraphicFramePr>
        <p:xfrm>
          <a:off x="365760" y="96012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960120"/>
            <a:ext cx="29260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0" y="960120"/>
            <a:ext cx="2926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Margin Expansion Highlights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44168"/>
          <a:ext cx="292608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FY2031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</a:rPr>
                        <a:t>Gross Margin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B4A"/>
                          </a:solidFill>
                        </a:rPr>
                        <a:t>39.2%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45.0%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</a:rPr>
                        <a:t>Net Margin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B4A"/>
                          </a:solidFill>
                        </a:rPr>
                        <a:t>6.2%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11.7%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</a:rPr>
                        <a:t>Net Income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B4A"/>
                          </a:solidFill>
                        </a:rPr>
                        <a:t>$329M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$763M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</a:rPr>
                        <a:t>EBITDA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B4A"/>
                          </a:solidFill>
                        </a:rPr>
                        <a:t>$640M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$1,247M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</a:rPr>
                        <a:t>Revenue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B4A"/>
                          </a:solidFill>
                        </a:rPr>
                        <a:t>$5.33B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$6.53B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393192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3977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Assumptions: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1828800" y="4005072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3-4% / yr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0" y="4160520"/>
            <a:ext cx="18288" cy="502920"/>
          </a:xfrm>
          <a:prstGeom prst="rect">
            <a:avLst/>
          </a:prstGeom>
          <a:solidFill>
            <a:srgbClr val="7A8EA8"/>
          </a:solidFill>
          <a:ln w="12700">
            <a:solidFill>
              <a:srgbClr val="7A8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91840" y="4005072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Sales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→ 55%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4160520"/>
            <a:ext cx="18288" cy="502920"/>
          </a:xfrm>
          <a:prstGeom prst="rect">
            <a:avLst/>
          </a:prstGeom>
          <a:solidFill>
            <a:srgbClr val="7A8EA8"/>
          </a:solidFill>
          <a:ln w="12700">
            <a:solidFill>
              <a:srgbClr val="7A8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754880" y="4005072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/ Sales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→ 25.9%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4160520"/>
            <a:ext cx="18288" cy="502920"/>
          </a:xfrm>
          <a:prstGeom prst="rect">
            <a:avLst/>
          </a:prstGeom>
          <a:solidFill>
            <a:srgbClr val="7A8EA8"/>
          </a:solidFill>
          <a:ln w="12700">
            <a:solidFill>
              <a:srgbClr val="7A8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17920" y="4005072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589520" y="4160520"/>
            <a:ext cx="18288" cy="502920"/>
          </a:xfrm>
          <a:prstGeom prst="rect">
            <a:avLst/>
          </a:prstGeom>
          <a:solidFill>
            <a:srgbClr val="7A8EA8"/>
          </a:solidFill>
          <a:ln w="12700">
            <a:solidFill>
              <a:srgbClr val="7A8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680960" y="4005072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Debt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through FY2031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4" descr="High-angle view of high rise buildings photo – Free Background Image on  Unsplash">
            <a:extLst>
              <a:ext uri="{FF2B5EF4-FFF2-40B4-BE49-F238E27FC236}">
                <a16:creationId xmlns:a16="http://schemas.microsoft.com/office/drawing/2014/main" id="{126888A0-8858-84F7-03FD-6089E9DAD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211" y="-659541"/>
            <a:ext cx="9522422" cy="634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32D89A0-10E7-C11B-0D91-034DF6BCD622}"/>
              </a:ext>
            </a:extLst>
          </p:cNvPr>
          <p:cNvSpPr/>
          <p:nvPr/>
        </p:nvSpPr>
        <p:spPr>
          <a:xfrm>
            <a:off x="-237471" y="148180"/>
            <a:ext cx="10260624" cy="5356362"/>
          </a:xfrm>
          <a:prstGeom prst="rect">
            <a:avLst/>
          </a:prstGeom>
          <a:solidFill>
            <a:schemeClr val="tx2">
              <a:lumMod val="75000"/>
              <a:alpha val="405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VALUATION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Multi-Method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15223214"/>
              </p:ext>
            </p:extLst>
          </p:nvPr>
        </p:nvGraphicFramePr>
        <p:xfrm>
          <a:off x="365760" y="960120"/>
          <a:ext cx="52120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3017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9788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Method Weights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97880" y="141732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(eVal)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60920" y="1472184"/>
            <a:ext cx="864108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21040" y="1417320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897880" y="169164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60920" y="1746504"/>
            <a:ext cx="48006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21040" y="1691640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97880" y="196596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60920" y="2020824"/>
            <a:ext cx="192024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21040" y="1965960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97880" y="224028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Multiples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0920" y="2295144"/>
            <a:ext cx="192024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21040" y="2240280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5897880" y="251460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Ratio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60920" y="2569464"/>
            <a:ext cx="192024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21040" y="2514600"/>
            <a:ext cx="411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760720" y="3017520"/>
            <a:ext cx="301752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60720" y="3090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Target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60720" y="3337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$35.11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5760720" y="3794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</a:rPr>
              <a:t>Sector Median  |  +110.2% Upside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251960"/>
            <a:ext cx="91440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43159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Analyst Consensus: $35.00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validates our $35.11 target  ·  Today's weighted target of $27.79 already implies +66.4% upside  ·  AEO trades at 14–41% discount on every metric vs. sector median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High-angle view of high rise buildings photo – Free Background Image on  Unsplash">
            <a:extLst>
              <a:ext uri="{FF2B5EF4-FFF2-40B4-BE49-F238E27FC236}">
                <a16:creationId xmlns:a16="http://schemas.microsoft.com/office/drawing/2014/main" id="{598D2C97-9674-902B-ED9F-48750BBC7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5548" y="-871963"/>
            <a:ext cx="9995096" cy="666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9DFB2EE-F2D2-5A3B-9B55-A1BCB37A2206}"/>
              </a:ext>
            </a:extLst>
          </p:cNvPr>
          <p:cNvSpPr/>
          <p:nvPr/>
        </p:nvSpPr>
        <p:spPr>
          <a:xfrm>
            <a:off x="-473809" y="-64243"/>
            <a:ext cx="10777455" cy="5622241"/>
          </a:xfrm>
          <a:prstGeom prst="rect">
            <a:avLst/>
          </a:prstGeom>
          <a:solidFill>
            <a:schemeClr val="bg1">
              <a:alpha val="5516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Verdict: BUY American Eagle Outfitters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0060" y="1426464"/>
            <a:ext cx="640080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42646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Supported by Structural Tailwinds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$5.33B (FY2024) → $6.53B (FY2031). Powered by e-commerce acceleration (27%→43%+), athleisure boom ($306B→$492B), and stable ~3% specialty retail market growth — all structural, not cyclical.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0060" y="2455164"/>
            <a:ext cx="640080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7320" y="245973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 Margin Expansion Trajectory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27706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39.2% → 45.0%. Net margin: 6.2% → 11.7%. EBITDA nearly doubles. Driven by better sourcing, SG&amp;A leverage, and Aerie's higher-margin activewear mix.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483864"/>
            <a:ext cx="640080" cy="749808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48386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349300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Discount + Pristine Balance Sheet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17320" y="380390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14–41% discount to sector median on every metric. Zero long-term debt. ROE of 18.8% — highest among peers with no financial leverage. $190M+ returned via buybacks in FY2024.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526280"/>
            <a:ext cx="813816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526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RECOMMENDATION:  BUY  |  12-Month Target: $35.11 (Sector Median)  |  Upside: +110.2%  |  WACC: 13.90%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</TotalTime>
  <Words>916</Words>
  <Application>Microsoft Office PowerPoint</Application>
  <PresentationFormat>On-screen Show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Georgia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AEO Investment Proposal – FIN360</dc:title>
  <dc:subject>PptxGenJS Presentation</dc:subject>
  <dc:creator>PptxGenJS</dc:creator>
  <cp:lastModifiedBy>Tijane Paug</cp:lastModifiedBy>
  <cp:revision>3</cp:revision>
  <dcterms:created xsi:type="dcterms:W3CDTF">2026-04-15T05:31:16Z</dcterms:created>
  <dcterms:modified xsi:type="dcterms:W3CDTF">2026-04-16T01:21:42Z</dcterms:modified>
</cp:coreProperties>
</file>