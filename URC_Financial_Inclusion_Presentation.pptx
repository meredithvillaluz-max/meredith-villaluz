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8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64008" cy="514350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Access to Security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2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How BSP's Financial Inclusion Policies Translate into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2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Readiness and Financial Self-Reliance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18541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2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Unbanked Filipinos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3200400" cy="4572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Meredith T. Villaluz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1272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– Finance  |  Undergraduate Research  |  April 02,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4572000"/>
            <a:ext cx="1572768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50008" y="4572000"/>
            <a:ext cx="1572768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50008" y="45720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Security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14216" y="4572000"/>
            <a:ext cx="1572768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14216" y="45720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Policy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78424" y="4572000"/>
            <a:ext cx="1572768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78424" y="45720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FIRSM Model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342632" y="4572000"/>
            <a:ext cx="1572768" cy="201168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42632" y="457200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Unbanked Filipinos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9606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Question · Approach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Villaluz, M.T. | URC Final Paper | March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– Finance | Undergraduate Research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4069080" cy="38404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005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1508760"/>
            <a:ext cx="416052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49.8%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formal banking services (Mastercard/RCBC, 2024)
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56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 10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remain unbanked (BSP Financial Inclusion at a Glance, 2023)
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cities/municipalities have NO formal financial institution (EFILS, 2025)
</a:t>
            </a:r>
            <a:endParaRPr lang="en-US" sz="24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Worst</a:t>
            </a:r>
            <a:endParaRPr lang="en-US" sz="2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in the Mercer CFA Pension Index (2024)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4251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0058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41732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financial inclusion help unbanked Filipinos prepare for retirement and become financially self-reliant, and what changes are needed to close remaining gaps?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2743200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2743200"/>
            <a:ext cx="4251960" cy="347472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research design &amp; document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2018–2026 (BSP regulatory &amp; digital reform era)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reports incl. Financial Inclusion at a Glance (2023) &amp; FISC Annual Report (2024)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literature: Desello &amp; Agner (2023), Debuque-Gonzales &amp; Corpus (2024)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analyses: ADB, HelpAge, Mercer CFA, Sun Life (2024)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FIRSM Conceptual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5074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Inclusion–Retirement Security Model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Villaluz, M.T. | URC Final Paper | March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– Finance | Undergraduate Research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8595360" cy="475488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96012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Readiness = f ( Access · Usage · Literacy · Trust · Policy Integration 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1627632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002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" y="2112264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4231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account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2468880"/>
            <a:ext cx="109728" cy="0"/>
          </a:xfrm>
          <a:prstGeom prst="line">
            <a:avLst/>
          </a:prstGeom>
          <a:noFill/>
          <a:ln w="19050">
            <a:solidFill>
              <a:srgbClr val="6B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0" y="16002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0" y="1600200"/>
            <a:ext cx="1627632" cy="475488"/>
          </a:xfrm>
          <a:prstGeom prst="rect">
            <a:avLst/>
          </a:prstGeom>
          <a:solidFill>
            <a:srgbClr val="0566A0"/>
          </a:solidFill>
          <a:ln w="12700">
            <a:solidFill>
              <a:srgbClr val="056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11680" y="16002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057400" y="2112264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57400" y="24231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transactions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39312" y="2468880"/>
            <a:ext cx="109728" cy="0"/>
          </a:xfrm>
          <a:prstGeom prst="line">
            <a:avLst/>
          </a:prstGeom>
          <a:noFill/>
          <a:ln w="19050">
            <a:solidFill>
              <a:srgbClr val="6B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49040" y="16002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749040" y="1600200"/>
            <a:ext cx="1627632" cy="475488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49040" y="16002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94760" y="2112264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94760" y="24231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knowledge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76672" y="2468880"/>
            <a:ext cx="109728" cy="0"/>
          </a:xfrm>
          <a:prstGeom prst="line">
            <a:avLst/>
          </a:prstGeom>
          <a:noFill/>
          <a:ln w="19050">
            <a:solidFill>
              <a:srgbClr val="6B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0" y="16002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0" y="1600200"/>
            <a:ext cx="1627632" cy="47548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16002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32120" y="2112264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32120" y="24231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institutions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14032" y="2468880"/>
            <a:ext cx="109728" cy="0"/>
          </a:xfrm>
          <a:prstGeom prst="line">
            <a:avLst/>
          </a:prstGeom>
          <a:noFill/>
          <a:ln w="19050">
            <a:solidFill>
              <a:srgbClr val="6B7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223760" y="16002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23760" y="1600200"/>
            <a:ext cx="162763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23760" y="1600200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269480" y="2112264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Integration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242316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linked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pension programs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456432"/>
            <a:ext cx="8595360" cy="1097280"/>
          </a:xfrm>
          <a:prstGeom prst="rect">
            <a:avLst/>
          </a:prstGeom>
          <a:solidFill>
            <a:srgbClr val="1A2B5E">
              <a:alpha val="95000"/>
            </a:srgbClr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4320" y="3456432"/>
            <a:ext cx="64008" cy="109728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3520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37764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policies currently strengthen Access (A) — but Usage, Literacy, Trust, and Policy Integration remain underdeveloped. All five components must function together to produce retirement readiness and financial self-reliance. Barriers such as geography, cost, and the digital divide can disrupt the pathway at any stage.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BSP's Key Financial Inclusion Policies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5074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reform · Digital infrastructure · Financial education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Villaluz, M.T. | URC Final Paper | March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– Finance | Undergraduate Research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685800" cy="3200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0058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042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NRPS / PESONet / InstaPay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389888"/>
            <a:ext cx="1024128" cy="1225296"/>
          </a:xfrm>
          <a:prstGeom prst="rect">
            <a:avLst/>
          </a:prstGeom>
          <a:solidFill>
            <a:srgbClr val="1A2B5E">
              <a:alpha val="12000"/>
            </a:srgbClr>
          </a:solidFill>
          <a:ln w="12700">
            <a:solidFill>
              <a:srgbClr val="1A2B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463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+67.8%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InstaPay volume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(2023–2024)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5760" y="1389888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Retail Payment System enabling low-cost, real-time 24/7 digital transfers. In 2024, digital payments reached 57.4% by volume and 59.0% by value, surpassing targets.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0058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685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10058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042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Deposit Account (BDA)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35240" y="1389888"/>
            <a:ext cx="1024128" cy="122529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35240" y="14630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100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35240" y="192024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opening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required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09160" y="1389888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Circular No. 992 — opening amount ≤ PHP 100, no maintaining balance, no dormancy charges, easy onboarding for low-income Filipinos. (CGAP, 2023)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2834640"/>
            <a:ext cx="68580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834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2871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11211 – Expanded BSP Mandate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3218688"/>
            <a:ext cx="1024128" cy="1225296"/>
          </a:xfrm>
          <a:prstGeom prst="rect">
            <a:avLst/>
          </a:prstGeom>
          <a:solidFill>
            <a:srgbClr val="5B2D8E">
              <a:alpha val="12000"/>
            </a:srgbClr>
          </a:solidFill>
          <a:ln w="12700">
            <a:solidFill>
              <a:srgbClr val="5B2D8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32918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11211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91840" y="374904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foundation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inclusion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5760" y="3218688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 Act No. 11211 expanded the BSP's mandate to promote financial inclusion by encouraging innovation and market-based approaches. (BSP's Initiatives and Regulations on Financial Inclusion, 2025)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17720" y="2834640"/>
            <a:ext cx="685800" cy="32004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17720" y="283464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2871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 Digital Expansion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635240" y="3218688"/>
            <a:ext cx="1024128" cy="1225296"/>
          </a:xfrm>
          <a:prstGeom prst="rect">
            <a:avLst/>
          </a:prstGeom>
          <a:solidFill>
            <a:srgbClr val="E8A835">
              <a:alpha val="12000"/>
            </a:srgbClr>
          </a:solidFill>
          <a:ln w="12700">
            <a:solidFill>
              <a:srgbClr val="E8A83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35240" y="32918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635240" y="374904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credit 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₱100K/yr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09160" y="3218688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Equity and Retirement Account expanded to GCash and UnionBank. Up to PHP 100,000/year with a 5% tax credit. (Philippine Tribune, 2026)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Barriers, Shallow Inclusion &amp; Retirement Gap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521523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access ≠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Villaluz, M.T. | URC Final Paper | March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– Finance | Undergraduate Research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87552"/>
            <a:ext cx="859536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9875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 million Filipinos remain unbanked — ranking the Philippines among the Top 10 globally for unbanked adults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27432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Barriers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148840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7,000+ island archipelago creates major connectivity gaps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 cities/municipalities lack formal financial institutions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Visayas &amp; Mindanao: 1.8× lower digital adoption than urban areas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73736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54680" y="1737360"/>
            <a:ext cx="2743200" cy="3657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468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&amp; Cost Barriers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2148840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48.8% of households have home internet access (PSA)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Stringent documentation requirements exclude many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users unable to maintain balances or pay fees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73736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35040" y="1737360"/>
            <a:ext cx="27432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&amp; Trust Gaps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2148840"/>
            <a:ext cx="2542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mistrust persists especially in rural communities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usage remains largely transactional, not savings-oriented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14% of Filipinos have a retirement or pension plan (Sun Life 2024)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8595360" cy="640080"/>
          </a:xfrm>
          <a:prstGeom prst="rect">
            <a:avLst/>
          </a:prstGeom>
          <a:solidFill>
            <a:srgbClr val="E8A835">
              <a:alpha val="90000"/>
            </a:srgbClr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64008" cy="64008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17880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 voluntary contributions require online registration through the My.SSS portal and a registered disbursement account (SSS, 2024). The MySSS Pension Booster (min. PHP 500/month, 7.2% target rate) and PERA are likewise inaccessible to the 37.6M unbanked — increasing retirement vulnerability each year. (Ta-Asan, 2025)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649224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evidence shows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Villaluz, M.T. | URC Final Paper | March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– Finance | Undergraduate Research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7432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FIRSM Component Status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(A)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344168"/>
            <a:ext cx="132588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0" y="13441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29000" y="13350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Financial Inclusion at a Glance (2023) — ~6 in 10 adults now banked</a:t>
            </a:r>
            <a:endParaRPr lang="en-US" sz="100" dirty="0"/>
          </a:p>
        </p:txBody>
      </p:sp>
      <p:sp>
        <p:nvSpPr>
          <p:cNvPr id="14" name="Text 12"/>
          <p:cNvSpPr/>
          <p:nvPr/>
        </p:nvSpPr>
        <p:spPr>
          <a:xfrm>
            <a:off x="274320" y="16002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Financial Inclusion at a Glance (2023) — ~6 in 10 adults now banked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74320" y="18928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(U)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0" y="1911096"/>
            <a:ext cx="132588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19110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1901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Debuque-Gonzales &amp; Corpus (2024) — behavior predominantly transactional</a:t>
            </a:r>
            <a:endParaRPr lang="en-US" sz="100" dirty="0"/>
          </a:p>
        </p:txBody>
      </p:sp>
      <p:sp>
        <p:nvSpPr>
          <p:cNvPr id="19" name="Text 17"/>
          <p:cNvSpPr/>
          <p:nvPr/>
        </p:nvSpPr>
        <p:spPr>
          <a:xfrm>
            <a:off x="274320" y="21671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Debuque-Gonzales &amp; Corpus (2024) — behavior predominantly transactional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4320" y="24597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 (L)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0" y="2478024"/>
            <a:ext cx="132588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247802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29000" y="2468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Life Asia Financial Resilience Index (2024) — only 41% have a plan beyond 1 year</a:t>
            </a:r>
            <a:endParaRPr lang="en-US" sz="100" dirty="0"/>
          </a:p>
        </p:txBody>
      </p:sp>
      <p:sp>
        <p:nvSpPr>
          <p:cNvPr id="24" name="Text 22"/>
          <p:cNvSpPr/>
          <p:nvPr/>
        </p:nvSpPr>
        <p:spPr>
          <a:xfrm>
            <a:off x="274320" y="27340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Life Asia Financial Resilience Index (2024) — only 41% have a plan beyond 1 year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30266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(T)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0" y="3044952"/>
            <a:ext cx="132588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11680" y="304495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29000" y="30358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Debuque-Gonzales &amp; Corpus (2024) — cost, distance &amp; lack of trust as primary barriers</a:t>
            </a:r>
            <a:endParaRPr lang="en-US" sz="100" dirty="0"/>
          </a:p>
        </p:txBody>
      </p:sp>
      <p:sp>
        <p:nvSpPr>
          <p:cNvPr id="29" name="Text 27"/>
          <p:cNvSpPr/>
          <p:nvPr/>
        </p:nvSpPr>
        <p:spPr>
          <a:xfrm>
            <a:off x="274320" y="3300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Debuque-Gonzales &amp; Corpus (2024) — cost, distance &amp; lack of trust as primary barriers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" y="3593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Integration (P)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11680" y="3611880"/>
            <a:ext cx="132588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011680" y="36118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29000" y="36027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 (2024) — all retirement instruments require formal banking; 37.6M locked out</a:t>
            </a:r>
            <a:endParaRPr lang="en-US" sz="100" dirty="0"/>
          </a:p>
        </p:txBody>
      </p:sp>
      <p:sp>
        <p:nvSpPr>
          <p:cNvPr id="34" name="Text 32"/>
          <p:cNvSpPr/>
          <p:nvPr/>
        </p:nvSpPr>
        <p:spPr>
          <a:xfrm>
            <a:off x="274320" y="38679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 (2024) — all retirement instruments require formal banking; 37.6M locked out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0" y="987552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0" y="987552"/>
            <a:ext cx="4297680" cy="3657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0" y="987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Highlights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1444752"/>
            <a:ext cx="41148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84648" y="14447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ownership has risen, but financial behavior is predominantly transactional — focused on payments rather than savings or wealth accumulation (Debuque-Gonzales &amp; Corpus, 2024)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203704"/>
            <a:ext cx="41148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9160" y="2203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84648" y="22037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14% of Filipinos have a retirement or pension plan; only 41% have any financial plan beyond one year (Sun Life Asia Financial Resilience Index, 2024)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2962656"/>
            <a:ext cx="41148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0916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84648" y="296265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one-standard-deviation increase in financial literacy scores raises the likelihood of formal account ownership by 3.7–4.2 percentage points (Desello &amp; Agner, 2023)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3721608"/>
            <a:ext cx="411480" cy="4114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09160" y="3721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84648" y="372160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policies have mainly widened access — focusing on accounts and transactions — while not significantly changing saving, pension enrollment, or retirement planning behavior (Gasingan, 2024)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40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5074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E8A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access to genuine retirement security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Villaluz, M.T. | URC Final Paper | March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4974336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– Finance | Undergraduate Research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987552"/>
            <a:ext cx="8595360" cy="502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0058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Access represents only the first of five FIRSM conditions for retirement security. Without integrating usage, literacy, trust, and policy integration, millions of Filipinos will continue experiencing insecurity in old age — perpetuating intergenerational dependency.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59436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0020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Retirement-Linked Accounts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19659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accounts that automatically connect banking services to SSS or PERA at account opening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7919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679192"/>
            <a:ext cx="594360" cy="960120"/>
          </a:xfrm>
          <a:prstGeom prst="rect">
            <a:avLst/>
          </a:prstGeom>
          <a:solidFill>
            <a:srgbClr val="0566A0"/>
          </a:solidFill>
          <a:ln w="12700">
            <a:solidFill>
              <a:srgbClr val="056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679192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770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Pension Integration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30449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e-money issuers and digital banks to provide one-tap voluntary SSS enrollment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758184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758184"/>
            <a:ext cx="594360" cy="9601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758184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38496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Policy Tools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412394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automatic savings and retirement nudges into BSP's financial literacy campaigns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160020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1600200"/>
            <a:ext cx="594360" cy="96012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17720" y="160020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30352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Retirement-Specific Education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03520" y="19659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in school curricula and community programs, framing retirement planning as self-reliance consistent with Filipino values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267919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2679192"/>
            <a:ext cx="59436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2679192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03520" y="2770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 Metrics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03520" y="30449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measuring account ownership to outcome-based indicators: retirement participation and financial security over 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3749040"/>
            <a:ext cx="4160520" cy="96012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17720" y="3749040"/>
            <a:ext cx="64008" cy="96012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7764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04164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surveys and interviews in rural areas recommended to strengthen evidence base and determine whether interventions foster sustained retirement-saving behavior.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64008" cy="5143500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3657600" cy="50292"/>
          </a:xfrm>
          <a:prstGeom prst="rect">
            <a:avLst/>
          </a:prstGeom>
          <a:solidFill>
            <a:srgbClr val="E8A835"/>
          </a:solidFill>
          <a:ln w="12700">
            <a:solidFill>
              <a:srgbClr val="E8A8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2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"Unless policies are intentionally aligned, financial inclusion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02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lead to real financial independence."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Meredith T. Villaluz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– Finance  |  Undergraduate Research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4107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URC Final Paper  |  April 02,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Access to Security: BSP Financial Inclusion &amp; Retirement Readiness  |  8 Slides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1356</Words>
  <Application>Microsoft Macintosh PowerPoint</Application>
  <PresentationFormat>On-screen Show (16:9)</PresentationFormat>
  <Paragraphs>177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Access to Security: BSP Financial Inclusion and Retirement Readiness</dc:title>
  <dc:subject>PptxGenJS Presentation</dc:subject>
  <dc:creator>PptxGenJS</dc:creator>
  <cp:lastModifiedBy>Meredith Villaluz</cp:lastModifiedBy>
  <cp:revision>2</cp:revision>
  <dcterms:created xsi:type="dcterms:W3CDTF">2026-03-24T06:10:10Z</dcterms:created>
  <dcterms:modified xsi:type="dcterms:W3CDTF">2026-03-26T07:29:53Z</dcterms:modified>
</cp:coreProperties>
</file>